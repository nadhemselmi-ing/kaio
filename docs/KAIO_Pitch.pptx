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262da88f-a6b6-edfc-bb3e-b7def693044a}">
          <p14:sldIdLst>
            <p14:sldId id="256"/>
          </p14:sldIdLst>
        </p14:section>
        <p14:section name="Problem and data" id="{005f15fc-6030-a9cb-5903-259757ab9368}">
          <p14:sldIdLst>
            <p14:sldId id="257"/>
            <p14:sldId id="258"/>
            <p14:sldId id="259"/>
          </p14:sldIdLst>
        </p14:section>
        <p14:section name="Solution" id="{266e0886-522b-9607-ac79-20437bfe1f9b}">
          <p14:sldIdLst>
            <p14:sldId id="260"/>
            <p14:sldId id="261"/>
            <p14:sldId id="262"/>
          </p14:sldIdLst>
        </p14:section>
        <p14:section name="Results" id="{f9e8c356-cac3-dab9-67b6-907d485ad82c}">
          <p14:sldIdLst>
            <p14:sldId id="263"/>
            <p14:sldId id="264"/>
          </p14:sldIdLst>
        </p14:section>
        <p14:section name="Feasibility and plan" id="{b546c458-ed05-1faf-e4e8-b9c8fa9d74e6}">
          <p14:sldIdLst>
            <p14:sldId id="265"/>
            <p14:sldId id="266"/>
          </p14:sldIdLst>
        </p14:section>
        <p14:section name="Close" id="{456b0f34-736b-ed12-09cd-3f0b72d57213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Hook: real orbit of Phi-sat-2; far more images than downlink; KAIO decides which ones matter.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1: process, keep, transmit or offload, under energy, thermal, storage and contact constraints.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KAIO_COVER-image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KAIO_CONTENT-image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IO_COV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8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IO_CONTEN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7731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899"/>
                </a:solidFill>
              </a:rPr>
              <a:t>KAIO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8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8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vent"/>
          <p:cNvSpPr txBox="1"/>
          <p:nvPr/>
        </p:nvSpPr>
        <p:spPr>
          <a:xfrm>
            <a:off x="548640" y="5029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6C2"/>
                </a:solidFill>
              </a:rPr>
              <a:t>IASTAM 6.0 Technical Challenge · Track 1 · Problem 1 “Process or Transmit?”</a:t>
            </a:r>
            <a:endParaRPr lang="en-US" sz="1000" dirty="0"/>
          </a:p>
        </p:txBody>
      </p:sp>
      <p:pic>
        <p:nvPicPr>
          <p:cNvPr id="3" name="KAIO logo" descr="KAIO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914400"/>
            <a:ext cx="1444752" cy="502920"/>
          </a:xfrm>
          <a:prstGeom prst="rect">
            <a:avLst/>
          </a:prstGeom>
        </p:spPr>
      </p:pic>
      <p:sp>
        <p:nvSpPr>
          <p:cNvPr id="4" name="headline"/>
          <p:cNvSpPr txBox="1"/>
          <p:nvPr/>
        </p:nvSpPr>
        <p:spPr>
          <a:xfrm>
            <a:off x="548640" y="1463040"/>
            <a:ext cx="4297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bg2"/>
                </a:solidFill>
              </a:rPr>
              <a:t>Which images deserve the downlink?</a:t>
            </a:r>
            <a:endParaRPr lang="en-US" sz="3200" dirty="0"/>
          </a:p>
        </p:txBody>
      </p:sp>
      <p:sp>
        <p:nvSpPr>
          <p:cNvPr id="5" name="lead"/>
          <p:cNvSpPr txBox="1"/>
          <p:nvPr/>
        </p:nvSpPr>
        <p:spPr>
          <a:xfrm>
            <a:off x="548640" y="310896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5CDE0"/>
                </a:solidFill>
              </a:rPr>
              <a:t>Onboard decisions for an Earth-observation satellite, flown on the real orbit of Φsat-2 with real NASA data.</a:t>
            </a:r>
            <a:endParaRPr lang="en-US" sz="1400" dirty="0"/>
          </a:p>
        </p:txBody>
      </p:sp>
      <p:sp>
        <p:nvSpPr>
          <p:cNvPr id="6" name="team"/>
          <p:cNvSpPr txBox="1"/>
          <p:nvPr/>
        </p:nvSpPr>
        <p:spPr>
          <a:xfrm>
            <a:off x="548640" y="39776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6C2"/>
                </a:solidFill>
              </a:rPr>
              <a:t>Team KAIO · Nadhem Selmi · Mahmoud Amri</a:t>
            </a:r>
            <a:endParaRPr lang="en-US" sz="1200" dirty="0"/>
          </a:p>
        </p:txBody>
      </p:sp>
      <p:pic>
        <p:nvPicPr>
          <p:cNvPr id="7" name="dashboard screenshot" descr="/home/claude/work/kaio/docs/figures/dash_hero_dark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868680"/>
            <a:ext cx="4480560" cy="267919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8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2"/>
                </a:solidFill>
              </a:rPr>
              <a:t>Far more data than downlink</a:t>
            </a:r>
            <a:endParaRPr lang="en-US" sz="2600" dirty="0"/>
          </a:p>
        </p:txBody>
      </p:sp>
      <p:sp>
        <p:nvSpPr>
          <p:cNvPr id="3" name="produced card"/>
          <p:cNvSpPr/>
          <p:nvPr/>
        </p:nvSpPr>
        <p:spPr>
          <a:xfrm>
            <a:off x="457200" y="100584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111A30">
              <a:alpha val="85000"/>
            </a:srgbClr>
          </a:solidFill>
          <a:ln w="9525">
            <a:solidFill>
              <a:srgbClr val="26324F"/>
            </a:solidFill>
            <a:prstDash val="solid"/>
          </a:ln>
        </p:spPr>
      </p:sp>
      <p:sp>
        <p:nvSpPr>
          <p:cNvPr id="4" name="produced value"/>
          <p:cNvSpPr txBox="1"/>
          <p:nvPr/>
        </p:nvSpPr>
        <p:spPr>
          <a:xfrm>
            <a:off x="621792" y="10972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DB6F5"/>
                </a:solidFill>
              </a:rPr>
              <a:t>≈ 80 GB</a:t>
            </a:r>
            <a:endParaRPr lang="en-US" sz="3000" dirty="0"/>
          </a:p>
        </p:txBody>
      </p:sp>
      <p:sp>
        <p:nvSpPr>
          <p:cNvPr id="5" name="produced label"/>
          <p:cNvSpPr txBox="1"/>
          <p:nvPr/>
        </p:nvSpPr>
        <p:spPr>
          <a:xfrm>
            <a:off x="621792" y="158191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3BDD3"/>
                </a:solidFill>
              </a:rPr>
              <a:t>of images produced per day</a:t>
            </a:r>
            <a:endParaRPr lang="en-US" sz="1100" dirty="0"/>
          </a:p>
        </p:txBody>
      </p:sp>
      <p:sp>
        <p:nvSpPr>
          <p:cNvPr id="6" name="downlink card"/>
          <p:cNvSpPr/>
          <p:nvPr/>
        </p:nvSpPr>
        <p:spPr>
          <a:xfrm>
            <a:off x="3268980" y="100584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111A30">
              <a:alpha val="85000"/>
            </a:srgbClr>
          </a:solidFill>
          <a:ln w="9525">
            <a:solidFill>
              <a:srgbClr val="26324F"/>
            </a:solidFill>
            <a:prstDash val="solid"/>
          </a:ln>
        </p:spPr>
      </p:sp>
      <p:sp>
        <p:nvSpPr>
          <p:cNvPr id="7" name="downlink value"/>
          <p:cNvSpPr txBox="1"/>
          <p:nvPr/>
        </p:nvSpPr>
        <p:spPr>
          <a:xfrm>
            <a:off x="3433572" y="10972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DB6F5"/>
                </a:solidFill>
              </a:rPr>
              <a:t>≈ 6 GB</a:t>
            </a:r>
            <a:endParaRPr lang="en-US" sz="3000" dirty="0"/>
          </a:p>
        </p:txBody>
      </p:sp>
      <p:sp>
        <p:nvSpPr>
          <p:cNvPr id="8" name="downlink label"/>
          <p:cNvSpPr txBox="1"/>
          <p:nvPr/>
        </p:nvSpPr>
        <p:spPr>
          <a:xfrm>
            <a:off x="3433572" y="158191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3BDD3"/>
                </a:solidFill>
              </a:rPr>
              <a:t>can be sent in 79 min of ground contact per day</a:t>
            </a:r>
            <a:endParaRPr lang="en-US" sz="1100" dirty="0"/>
          </a:p>
        </p:txBody>
      </p:sp>
      <p:sp>
        <p:nvSpPr>
          <p:cNvPr id="9" name="eclipse card"/>
          <p:cNvSpPr/>
          <p:nvPr/>
        </p:nvSpPr>
        <p:spPr>
          <a:xfrm>
            <a:off x="6080760" y="100584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111A30">
              <a:alpha val="85000"/>
            </a:srgbClr>
          </a:solidFill>
          <a:ln w="9525">
            <a:solidFill>
              <a:srgbClr val="26324F"/>
            </a:solidFill>
            <a:prstDash val="solid"/>
          </a:ln>
        </p:spPr>
      </p:sp>
      <p:sp>
        <p:nvSpPr>
          <p:cNvPr id="10" name="eclipse value"/>
          <p:cNvSpPr txBox="1"/>
          <p:nvPr/>
        </p:nvSpPr>
        <p:spPr>
          <a:xfrm>
            <a:off x="6245352" y="10972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DB6F5"/>
                </a:solidFill>
              </a:rPr>
              <a:t>35 min</a:t>
            </a:r>
            <a:endParaRPr lang="en-US" sz="3000" dirty="0"/>
          </a:p>
        </p:txBody>
      </p:sp>
      <p:sp>
        <p:nvSpPr>
          <p:cNvPr id="11" name="eclipse label"/>
          <p:cNvSpPr txBox="1"/>
          <p:nvPr/>
        </p:nvSpPr>
        <p:spPr>
          <a:xfrm>
            <a:off x="6245352" y="158191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3BDD3"/>
                </a:solidFill>
              </a:rPr>
              <a:t>of eclipse every 94-min orbit: no solar power</a:t>
            </a:r>
            <a:endParaRPr lang="en-US" sz="1100" dirty="0"/>
          </a:p>
        </p:txBody>
      </p:sp>
      <p:sp>
        <p:nvSpPr>
          <p:cNvPr id="12" name="question"/>
          <p:cNvSpPr txBox="1"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CDE0"/>
                </a:solidFill>
              </a:rPr>
              <a:t>Every 10 seconds, for every image, within battery, heat, memory and contact limits:</a:t>
            </a:r>
            <a:endParaRPr lang="en-US" sz="1400" dirty="0"/>
          </a:p>
        </p:txBody>
      </p:sp>
      <p:sp>
        <p:nvSpPr>
          <p:cNvPr id="13" name="Process card"/>
          <p:cNvSpPr/>
          <p:nvPr/>
        </p:nvSpPr>
        <p:spPr>
          <a:xfrm>
            <a:off x="457200" y="274320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111A30">
              <a:alpha val="85000"/>
            </a:srgbClr>
          </a:solidFill>
          <a:ln w="9525">
            <a:solidFill>
              <a:srgbClr val="26324F"/>
            </a:solidFill>
            <a:prstDash val="solid"/>
          </a:ln>
        </p:spPr>
      </p:sp>
      <p:sp>
        <p:nvSpPr>
          <p:cNvPr id="14" name="Process"/>
          <p:cNvSpPr txBox="1"/>
          <p:nvPr/>
        </p:nvSpPr>
        <p:spPr>
          <a:xfrm>
            <a:off x="603504" y="285292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DB6F5"/>
                </a:solidFill>
              </a:rPr>
              <a:t>Process</a:t>
            </a:r>
            <a:endParaRPr lang="en-US" sz="1700" dirty="0"/>
          </a:p>
        </p:txBody>
      </p:sp>
      <p:sp>
        <p:nvSpPr>
          <p:cNvPr id="15" name="Process text"/>
          <p:cNvSpPr txBox="1"/>
          <p:nvPr/>
        </p:nvSpPr>
        <p:spPr>
          <a:xfrm>
            <a:off x="603504" y="324612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3BDD3"/>
                </a:solidFill>
              </a:rPr>
              <a:t>onboard AI: 50 MB → 1.5 MB; costs energy and heat</a:t>
            </a:r>
            <a:endParaRPr lang="en-US" sz="1150" dirty="0"/>
          </a:p>
        </p:txBody>
      </p:sp>
      <p:sp>
        <p:nvSpPr>
          <p:cNvPr id="16" name="Keep card"/>
          <p:cNvSpPr/>
          <p:nvPr/>
        </p:nvSpPr>
        <p:spPr>
          <a:xfrm>
            <a:off x="2560320" y="274320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111A30">
              <a:alpha val="85000"/>
            </a:srgbClr>
          </a:solidFill>
          <a:ln w="9525">
            <a:solidFill>
              <a:srgbClr val="26324F"/>
            </a:solidFill>
            <a:prstDash val="solid"/>
          </a:ln>
        </p:spPr>
      </p:sp>
      <p:sp>
        <p:nvSpPr>
          <p:cNvPr id="17" name="Keep"/>
          <p:cNvSpPr txBox="1"/>
          <p:nvPr/>
        </p:nvSpPr>
        <p:spPr>
          <a:xfrm>
            <a:off x="2706624" y="285292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2"/>
                </a:solidFill>
              </a:rPr>
              <a:t>Keep</a:t>
            </a:r>
            <a:endParaRPr lang="en-US" sz="1700" dirty="0"/>
          </a:p>
        </p:txBody>
      </p:sp>
      <p:sp>
        <p:nvSpPr>
          <p:cNvPr id="18" name="Keep text"/>
          <p:cNvSpPr txBox="1"/>
          <p:nvPr/>
        </p:nvSpPr>
        <p:spPr>
          <a:xfrm>
            <a:off x="2706624" y="324612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3BDD3"/>
                </a:solidFill>
              </a:rPr>
              <a:t>store for later; costs memory</a:t>
            </a:r>
            <a:endParaRPr lang="en-US" sz="1150" dirty="0"/>
          </a:p>
        </p:txBody>
      </p:sp>
      <p:sp>
        <p:nvSpPr>
          <p:cNvPr id="19" name="Transmit card"/>
          <p:cNvSpPr/>
          <p:nvPr/>
        </p:nvSpPr>
        <p:spPr>
          <a:xfrm>
            <a:off x="4663440" y="274320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111A30">
              <a:alpha val="85000"/>
            </a:srgbClr>
          </a:solidFill>
          <a:ln w="9525">
            <a:solidFill>
              <a:srgbClr val="26324F"/>
            </a:solidFill>
            <a:prstDash val="solid"/>
          </a:ln>
        </p:spPr>
      </p:sp>
      <p:sp>
        <p:nvSpPr>
          <p:cNvPr id="20" name="Transmit"/>
          <p:cNvSpPr txBox="1"/>
          <p:nvPr/>
        </p:nvSpPr>
        <p:spPr>
          <a:xfrm>
            <a:off x="4809744" y="285292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2"/>
                </a:solidFill>
              </a:rPr>
              <a:t>Transmit</a:t>
            </a:r>
            <a:endParaRPr lang="en-US" sz="1700" dirty="0"/>
          </a:p>
        </p:txBody>
      </p:sp>
      <p:sp>
        <p:nvSpPr>
          <p:cNvPr id="21" name="Transmit text"/>
          <p:cNvSpPr txBox="1"/>
          <p:nvPr/>
        </p:nvSpPr>
        <p:spPr>
          <a:xfrm>
            <a:off x="4809744" y="324612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3BDD3"/>
                </a:solidFill>
              </a:rPr>
              <a:t>during a ground pass</a:t>
            </a:r>
            <a:endParaRPr lang="en-US" sz="1150" dirty="0"/>
          </a:p>
        </p:txBody>
      </p:sp>
      <p:sp>
        <p:nvSpPr>
          <p:cNvPr id="22" name="Offload card"/>
          <p:cNvSpPr/>
          <p:nvPr/>
        </p:nvSpPr>
        <p:spPr>
          <a:xfrm>
            <a:off x="6766560" y="274320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111A30">
              <a:alpha val="85000"/>
            </a:srgbClr>
          </a:solidFill>
          <a:ln w="9525">
            <a:solidFill>
              <a:srgbClr val="26324F"/>
            </a:solidFill>
            <a:prstDash val="solid"/>
          </a:ln>
        </p:spPr>
      </p:sp>
      <p:sp>
        <p:nvSpPr>
          <p:cNvPr id="23" name="Offload"/>
          <p:cNvSpPr txBox="1"/>
          <p:nvPr/>
        </p:nvSpPr>
        <p:spPr>
          <a:xfrm>
            <a:off x="6912864" y="285292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2"/>
                </a:solidFill>
              </a:rPr>
              <a:t>Offload</a:t>
            </a:r>
            <a:endParaRPr lang="en-US" sz="1700" dirty="0"/>
          </a:p>
        </p:txBody>
      </p:sp>
      <p:sp>
        <p:nvSpPr>
          <p:cNvPr id="24" name="Offload text"/>
          <p:cNvSpPr txBox="1"/>
          <p:nvPr/>
        </p:nvSpPr>
        <p:spPr>
          <a:xfrm>
            <a:off x="6912864" y="324612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3BDD3"/>
                </a:solidFill>
              </a:rPr>
              <a:t>laser link to a neighbour in sunlight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8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2"/>
                </a:solidFill>
              </a:rPr>
              <a:t>Real orbit, real NASA data</a:t>
            </a:r>
            <a:endParaRPr lang="en-US" sz="2600" dirty="0"/>
          </a:p>
        </p:txBody>
      </p:sp>
      <p:sp>
        <p:nvSpPr>
          <p:cNvPr id="3" name="data bullets"/>
          <p:cNvSpPr txBox="1"/>
          <p:nvPr/>
        </p:nvSpPr>
        <p:spPr>
          <a:xfrm>
            <a:off x="457200" y="1051560"/>
            <a:ext cx="39319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E9EDF6"/>
                </a:solidFill>
              </a:rPr>
              <a:t>Orbit: 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C5CDE0"/>
                </a:solidFill>
              </a:rPr>
              <a:t>Φsat-2 (NORAD 60470) from its CelesTrak TLE, SGP4; RK4 + J2 cross-check within 25 km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E9EDF6"/>
                </a:solidFill>
              </a:rPr>
              <a:t>Ground stations: 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C5CDE0"/>
                </a:solidFill>
              </a:rPr>
              <a:t>KSAT Svalbard and ASI Matera, 10° elevation mask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E9EDF6"/>
                </a:solidFill>
              </a:rPr>
              <a:t>Earth data: 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C5CDE0"/>
                </a:solidFill>
              </a:rPr>
              <a:t>NASA GIBS, 20 days under the real track: VIIRS images, MODIS clouds, FIRMS fires, land mask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E9EDF6"/>
                </a:solidFill>
              </a:rPr>
              <a:t>57,600 real footprints: 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C5CDE0"/>
                </a:solidFill>
              </a:rPr>
              <a:t>each simulated picture is the real scene Φsat-2 flew over at that moment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E9EDF6"/>
                </a:solidFill>
              </a:rPr>
              <a:t>Simulated: 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C5CDE0"/>
                </a:solidFill>
              </a:rPr>
              <a:t>battery, thermal, GPU, radio; every assumption in one file</a:t>
            </a:r>
            <a:endParaRPr lang="en-US" sz="1300" dirty="0"/>
          </a:p>
        </p:txBody>
      </p:sp>
      <p:pic>
        <p:nvPicPr>
          <p:cNvPr id="4" name="replay screenshot" descr="/home/claude/work/kaio/docs/figures/dash_replay_dar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097280"/>
            <a:ext cx="4023360" cy="24048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8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2"/>
                </a:solidFill>
              </a:rPr>
              <a:t>Clouds fool raw entropy</a:t>
            </a:r>
            <a:endParaRPr lang="en-US" sz="2600" dirty="0"/>
          </a:p>
        </p:txBody>
      </p:sp>
      <p:sp>
        <p:nvSpPr>
          <p:cNvPr id="3" name="entropy chart panel"/>
          <p:cNvSpPr/>
          <p:nvPr/>
        </p:nvSpPr>
        <p:spPr>
          <a:xfrm>
            <a:off x="457200" y="1005840"/>
            <a:ext cx="40233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entropy chart" descr="/home/claude/work/kaio/docs/pptx_assets/fig_entrop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150793"/>
            <a:ext cx="3803904" cy="1493174"/>
          </a:xfrm>
          <a:prstGeom prst="rect">
            <a:avLst/>
          </a:prstGeom>
        </p:spPr>
      </p:pic>
      <p:sp>
        <p:nvSpPr>
          <p:cNvPr id="5" name="triage chart panel"/>
          <p:cNvSpPr/>
          <p:nvPr/>
        </p:nvSpPr>
        <p:spPr>
          <a:xfrm>
            <a:off x="4663440" y="1005840"/>
            <a:ext cx="40233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triage chart" descr="/home/claude/work/kaio/docs/pptx_assets/fig_tri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1181980"/>
            <a:ext cx="3803904" cy="1430800"/>
          </a:xfrm>
          <a:prstGeom prst="rect">
            <a:avLst/>
          </a:prstGeom>
        </p:spPr>
      </p:pic>
      <p:sp>
        <p:nvSpPr>
          <p:cNvPr id="7" name="finding"/>
          <p:cNvSpPr txBox="1"/>
          <p:nvPr/>
        </p:nvSpPr>
        <p:spPr>
          <a:xfrm>
            <a:off x="457200" y="30632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3DAEA"/>
                </a:solidFill>
              </a:rPr>
              <a:t>Clouds are the most textured scenes and 64 % of all scenes. Ranking by texture keeps </a:t>
            </a:r>
            <a:pPr indent="0" marL="0">
              <a:buNone/>
            </a:pPr>
            <a:r>
              <a:rPr lang="en-US" sz="1500" b="1" dirty="0">
                <a:solidFill>
                  <a:srgbClr val="EE6A57"/>
                </a:solidFill>
              </a:rPr>
              <a:t>27 %</a:t>
            </a:r>
            <a:pPr indent="0" marL="0">
              <a:buNone/>
            </a:pPr>
            <a:r>
              <a:rPr lang="en-US" sz="1500" dirty="0">
                <a:solidFill>
                  <a:srgbClr val="D3DAEA"/>
                </a:solidFill>
              </a:rPr>
              <a:t> of the value, worse than random (30 %). Texture × onboard land mask gives </a:t>
            </a:r>
            <a:pPr indent="0" marL="0">
              <a:buNone/>
            </a:pPr>
            <a:r>
              <a:rPr lang="en-US" sz="1500" b="1" dirty="0">
                <a:solidFill>
                  <a:srgbClr val="7DB6F5"/>
                </a:solidFill>
              </a:rPr>
              <a:t>79 %</a:t>
            </a:r>
            <a:pPr indent="0" marL="0">
              <a:buNone/>
            </a:pPr>
            <a:r>
              <a:rPr lang="en-US" sz="1500" dirty="0">
                <a:solidFill>
                  <a:srgbClr val="D3DAEA"/>
                </a:solidFill>
              </a:rPr>
              <a:t>, close to a perfect oracle (82 %).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8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2"/>
                </a:solidFill>
              </a:rPr>
              <a:t>System architecture</a:t>
            </a:r>
            <a:endParaRPr lang="en-US" sz="2600" dirty="0"/>
          </a:p>
        </p:txBody>
      </p:sp>
      <p:sp>
        <p:nvSpPr>
          <p:cNvPr id="3" name="architecture diagram panel"/>
          <p:cNvSpPr/>
          <p:nvPr/>
        </p:nvSpPr>
        <p:spPr>
          <a:xfrm>
            <a:off x="457200" y="960120"/>
            <a:ext cx="822960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architecture diagram" descr="/home/claude/work/kaio/docs/pptx_assets/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255" y="1069848"/>
            <a:ext cx="7745490" cy="339242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8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2"/>
                </a:solidFill>
              </a:rPr>
              <a:t>How E-LOTUS decides, every 10 seconds</a:t>
            </a:r>
            <a:endParaRPr lang="en-US" sz="2600" dirty="0"/>
          </a:p>
        </p:txBody>
      </p:sp>
      <p:sp>
        <p:nvSpPr>
          <p:cNvPr id="3" name="step 1"/>
          <p:cNvSpPr/>
          <p:nvPr/>
        </p:nvSpPr>
        <p:spPr>
          <a:xfrm>
            <a:off x="457200" y="1005840"/>
            <a:ext cx="1965960" cy="2286000"/>
          </a:xfrm>
          <a:prstGeom prst="roundRect">
            <a:avLst>
              <a:gd name="adj" fmla="val 3721"/>
            </a:avLst>
          </a:prstGeom>
          <a:solidFill>
            <a:srgbClr val="111A30">
              <a:alpha val="85000"/>
            </a:srgbClr>
          </a:solidFill>
          <a:ln w="9525">
            <a:solidFill>
              <a:srgbClr val="26324F"/>
            </a:solidFill>
            <a:prstDash val="solid"/>
          </a:ln>
        </p:spPr>
      </p:sp>
      <p:sp>
        <p:nvSpPr>
          <p:cNvPr id="4" name="step number 1"/>
          <p:cNvSpPr txBox="1"/>
          <p:nvPr/>
        </p:nvSpPr>
        <p:spPr>
          <a:xfrm>
            <a:off x="603504" y="10972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Step 1</a:t>
            </a:r>
            <a:endParaRPr lang="en-US" sz="1100" dirty="0"/>
          </a:p>
        </p:txBody>
      </p:sp>
      <p:sp>
        <p:nvSpPr>
          <p:cNvPr id="5" name="step title 1"/>
          <p:cNvSpPr txBox="1"/>
          <p:nvPr/>
        </p:nvSpPr>
        <p:spPr>
          <a:xfrm>
            <a:off x="603504" y="135331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2"/>
                </a:solidFill>
              </a:rPr>
              <a:t>Value</a:t>
            </a:r>
            <a:endParaRPr lang="en-US" sz="1700" dirty="0"/>
          </a:p>
        </p:txBody>
      </p:sp>
      <p:sp>
        <p:nvSpPr>
          <p:cNvPr id="6" name="step text 1"/>
          <p:cNvSpPr txBox="1"/>
          <p:nvPr/>
        </p:nvSpPr>
        <p:spPr>
          <a:xfrm>
            <a:off x="603504" y="1755648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3BDD3"/>
                </a:solidFill>
              </a:rPr>
              <a:t>texture × onboard land mask, × 4 for fire alerts</a:t>
            </a:r>
            <a:endParaRPr lang="en-US" sz="1150" dirty="0"/>
          </a:p>
        </p:txBody>
      </p:sp>
      <p:sp>
        <p:nvSpPr>
          <p:cNvPr id="7" name="step formula 1"/>
          <p:cNvSpPr txBox="1"/>
          <p:nvPr/>
        </p:nvSpPr>
        <p:spPr>
          <a:xfrm>
            <a:off x="603504" y="28346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DB6F5"/>
                </a:solidFill>
              </a:rPr>
              <a:t>p·(0.1+0.9·land)·(H/8)³</a:t>
            </a:r>
            <a:endParaRPr lang="en-US" sz="1050" dirty="0"/>
          </a:p>
        </p:txBody>
      </p:sp>
      <p:sp>
        <p:nvSpPr>
          <p:cNvPr id="8" name="step 2"/>
          <p:cNvSpPr/>
          <p:nvPr/>
        </p:nvSpPr>
        <p:spPr>
          <a:xfrm>
            <a:off x="2560320" y="1005840"/>
            <a:ext cx="1965960" cy="2286000"/>
          </a:xfrm>
          <a:prstGeom prst="roundRect">
            <a:avLst>
              <a:gd name="adj" fmla="val 3721"/>
            </a:avLst>
          </a:prstGeom>
          <a:solidFill>
            <a:srgbClr val="111A30">
              <a:alpha val="85000"/>
            </a:srgbClr>
          </a:solidFill>
          <a:ln w="9525">
            <a:solidFill>
              <a:srgbClr val="26324F"/>
            </a:solidFill>
            <a:prstDash val="solid"/>
          </a:ln>
        </p:spPr>
      </p:sp>
      <p:sp>
        <p:nvSpPr>
          <p:cNvPr id="9" name="step number 2"/>
          <p:cNvSpPr txBox="1"/>
          <p:nvPr/>
        </p:nvSpPr>
        <p:spPr>
          <a:xfrm>
            <a:off x="2706624" y="10972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Step 2</a:t>
            </a:r>
            <a:endParaRPr lang="en-US" sz="1100" dirty="0"/>
          </a:p>
        </p:txBody>
      </p:sp>
      <p:sp>
        <p:nvSpPr>
          <p:cNvPr id="10" name="step title 2"/>
          <p:cNvSpPr txBox="1"/>
          <p:nvPr/>
        </p:nvSpPr>
        <p:spPr>
          <a:xfrm>
            <a:off x="2706624" y="135331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2"/>
                </a:solidFill>
              </a:rPr>
              <a:t>Score</a:t>
            </a:r>
            <a:endParaRPr lang="en-US" sz="1700" dirty="0"/>
          </a:p>
        </p:txBody>
      </p:sp>
      <p:sp>
        <p:nvSpPr>
          <p:cNvPr id="11" name="step text 2"/>
          <p:cNvSpPr txBox="1"/>
          <p:nvPr/>
        </p:nvSpPr>
        <p:spPr>
          <a:xfrm>
            <a:off x="2706624" y="1755648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3BDD3"/>
                </a:solidFill>
              </a:rPr>
              <a:t>growth of 3 debts (memory, battery, heat) minus V × value, per second</a:t>
            </a:r>
            <a:endParaRPr lang="en-US" sz="1150" dirty="0"/>
          </a:p>
        </p:txBody>
      </p:sp>
      <p:sp>
        <p:nvSpPr>
          <p:cNvPr id="12" name="step formula 2"/>
          <p:cNvSpPr txBox="1"/>
          <p:nvPr/>
        </p:nvSpPr>
        <p:spPr>
          <a:xfrm>
            <a:off x="2706624" y="28346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DB6F5"/>
                </a:solidFill>
              </a:rPr>
              <a:t>(ΔL − V·U) / τ</a:t>
            </a:r>
            <a:endParaRPr lang="en-US" sz="1050" dirty="0"/>
          </a:p>
        </p:txBody>
      </p:sp>
      <p:sp>
        <p:nvSpPr>
          <p:cNvPr id="13" name="step 3"/>
          <p:cNvSpPr/>
          <p:nvPr/>
        </p:nvSpPr>
        <p:spPr>
          <a:xfrm>
            <a:off x="4663440" y="1005840"/>
            <a:ext cx="1965960" cy="2286000"/>
          </a:xfrm>
          <a:prstGeom prst="roundRect">
            <a:avLst>
              <a:gd name="adj" fmla="val 3721"/>
            </a:avLst>
          </a:prstGeom>
          <a:solidFill>
            <a:srgbClr val="111A30">
              <a:alpha val="85000"/>
            </a:srgbClr>
          </a:solidFill>
          <a:ln w="9525">
            <a:solidFill>
              <a:srgbClr val="26324F"/>
            </a:solidFill>
            <a:prstDash val="solid"/>
          </a:ln>
        </p:spPr>
      </p:sp>
      <p:sp>
        <p:nvSpPr>
          <p:cNvPr id="14" name="step number 3"/>
          <p:cNvSpPr txBox="1"/>
          <p:nvPr/>
        </p:nvSpPr>
        <p:spPr>
          <a:xfrm>
            <a:off x="4809744" y="10972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Step 3</a:t>
            </a:r>
            <a:endParaRPr lang="en-US" sz="1100" dirty="0"/>
          </a:p>
        </p:txBody>
      </p:sp>
      <p:sp>
        <p:nvSpPr>
          <p:cNvPr id="15" name="step title 3"/>
          <p:cNvSpPr txBox="1"/>
          <p:nvPr/>
        </p:nvSpPr>
        <p:spPr>
          <a:xfrm>
            <a:off x="4809744" y="135331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2"/>
                </a:solidFill>
              </a:rPr>
              <a:t>Safety guard</a:t>
            </a:r>
            <a:endParaRPr lang="en-US" sz="1700" dirty="0"/>
          </a:p>
        </p:txBody>
      </p:sp>
      <p:sp>
        <p:nvSpPr>
          <p:cNvPr id="16" name="step text 3"/>
          <p:cNvSpPr txBox="1"/>
          <p:nvPr/>
        </p:nvSpPr>
        <p:spPr>
          <a:xfrm>
            <a:off x="4809744" y="1755648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3BDD3"/>
                </a:solidFill>
              </a:rPr>
              <a:t>independent veto: survive the next eclipse, stay under 45 °C</a:t>
            </a:r>
            <a:endParaRPr lang="en-US" sz="1150" dirty="0"/>
          </a:p>
        </p:txBody>
      </p:sp>
      <p:sp>
        <p:nvSpPr>
          <p:cNvPr id="17" name="step formula 3"/>
          <p:cNvSpPr txBox="1"/>
          <p:nvPr/>
        </p:nvSpPr>
        <p:spPr>
          <a:xfrm>
            <a:off x="4809744" y="28346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DB6F5"/>
                </a:solidFill>
              </a:rPr>
              <a:t>fire alerts: up to 60 °C</a:t>
            </a:r>
            <a:endParaRPr lang="en-US" sz="1050" dirty="0"/>
          </a:p>
        </p:txBody>
      </p:sp>
      <p:sp>
        <p:nvSpPr>
          <p:cNvPr id="18" name="step 4"/>
          <p:cNvSpPr/>
          <p:nvPr/>
        </p:nvSpPr>
        <p:spPr>
          <a:xfrm>
            <a:off x="6766560" y="1005840"/>
            <a:ext cx="1965960" cy="2286000"/>
          </a:xfrm>
          <a:prstGeom prst="roundRect">
            <a:avLst>
              <a:gd name="adj" fmla="val 3721"/>
            </a:avLst>
          </a:prstGeom>
          <a:solidFill>
            <a:srgbClr val="111A30">
              <a:alpha val="85000"/>
            </a:srgbClr>
          </a:solidFill>
          <a:ln w="9525">
            <a:solidFill>
              <a:srgbClr val="26324F"/>
            </a:solidFill>
            <a:prstDash val="solid"/>
          </a:ln>
        </p:spPr>
      </p:sp>
      <p:sp>
        <p:nvSpPr>
          <p:cNvPr id="19" name="step number 4"/>
          <p:cNvSpPr txBox="1"/>
          <p:nvPr/>
        </p:nvSpPr>
        <p:spPr>
          <a:xfrm>
            <a:off x="6912864" y="10972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Step 4</a:t>
            </a:r>
            <a:endParaRPr lang="en-US" sz="1100" dirty="0"/>
          </a:p>
        </p:txBody>
      </p:sp>
      <p:sp>
        <p:nvSpPr>
          <p:cNvPr id="20" name="step title 4"/>
          <p:cNvSpPr txBox="1"/>
          <p:nvPr/>
        </p:nvSpPr>
        <p:spPr>
          <a:xfrm>
            <a:off x="6912864" y="135331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2"/>
                </a:solidFill>
              </a:rPr>
              <a:t>Explain</a:t>
            </a:r>
            <a:endParaRPr lang="en-US" sz="1700" dirty="0"/>
          </a:p>
        </p:txBody>
      </p:sp>
      <p:sp>
        <p:nvSpPr>
          <p:cNvPr id="21" name="step text 4"/>
          <p:cNvSpPr txBox="1"/>
          <p:nvPr/>
        </p:nvSpPr>
        <p:spPr>
          <a:xfrm>
            <a:off x="6912864" y="1755648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3BDD3"/>
                </a:solidFill>
              </a:rPr>
              <a:t>every decision logs a reason from onboard data</a:t>
            </a:r>
            <a:endParaRPr lang="en-US" sz="1150" dirty="0"/>
          </a:p>
        </p:txBody>
      </p:sp>
      <p:sp>
        <p:nvSpPr>
          <p:cNvPr id="22" name="step formula 4"/>
          <p:cNvSpPr txBox="1"/>
          <p:nvPr/>
        </p:nvSpPr>
        <p:spPr>
          <a:xfrm>
            <a:off x="6912864" y="28346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DB6F5"/>
                </a:solidFill>
              </a:rPr>
              <a:t>auditable by operators</a:t>
            </a:r>
            <a:endParaRPr lang="en-US" sz="1050" dirty="0"/>
          </a:p>
        </p:txBody>
      </p:sp>
      <p:sp>
        <p:nvSpPr>
          <p:cNvPr id="23" name="example decision"/>
          <p:cNvSpPr txBox="1"/>
          <p:nvPr/>
        </p:nvSpPr>
        <p:spPr>
          <a:xfrm>
            <a:off x="457200" y="3520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3DAEA"/>
                </a:solidFill>
              </a:rPr>
              <a:t>“Process now: est. value 0.68 (optical H 7.5, land 79 %). 20 MB raw → 0.6 MB product, next pass in 476 min; battery 69 Wh after (floor 20), 9.3 °C.”</a:t>
            </a:r>
            <a:endParaRPr lang="en-US" sz="1200" dirty="0"/>
          </a:p>
        </p:txBody>
      </p:sp>
      <p:sp>
        <p:nvSpPr>
          <p:cNvPr id="24" name="caveat"/>
          <p:cNvSpPr txBox="1"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AB8"/>
                </a:solidFill>
              </a:rPr>
              <a:t>Drift-plus-penalty from Lyapunov optimisation, used as a principled scoring rule; performance is measured, not claimed as proven.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8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2"/>
                </a:solidFill>
              </a:rPr>
              <a:t>Live demo</a:t>
            </a:r>
            <a:endParaRPr lang="en-US" sz="2600" dirty="0"/>
          </a:p>
        </p:txBody>
      </p:sp>
      <p:pic>
        <p:nvPicPr>
          <p:cNvPr id="3" name="dashboard benchmark screenshot" descr="/home/claude/work/kaio/docs/figures/dash_bench_ligh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4206240" cy="2514600"/>
          </a:xfrm>
          <a:prstGeom prst="rect">
            <a:avLst/>
          </a:prstGeom>
        </p:spPr>
      </p:pic>
      <p:sp>
        <p:nvSpPr>
          <p:cNvPr id="4" name="demo bullets"/>
          <p:cNvSpPr txBox="1"/>
          <p:nvPr/>
        </p:nvSpPr>
        <p:spPr>
          <a:xfrm>
            <a:off x="4937760" y="1097280"/>
            <a:ext cx="3749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E9EDF6"/>
                </a:solidFill>
              </a:rPr>
              <a:t>Mission-control dashboard: 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C5CDE0"/>
                </a:solidFill>
              </a:rPr>
              <a:t>3D Earth with the real orbit, 80 what-if orbits, 270 pre-computed missions, one offline file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E9EDF6"/>
                </a:solidFill>
              </a:rPr>
              <a:t>Raspberry Pi: 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C5CDE0"/>
                </a:solidFill>
              </a:rPr>
              <a:t>the same flight code runs live, printing each decision, its reason and its compute time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E9EDF6"/>
                </a:solidFill>
              </a:rPr>
              <a:t>Reproducible: 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C5CDE0"/>
                </a:solidFill>
              </a:rPr>
              <a:t>every number is regenerated by scripts from the benchmark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8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2"/>
                </a:solidFill>
              </a:rPr>
              <a:t>Results: 85.3 % of the reachable value</a:t>
            </a:r>
            <a:endParaRPr lang="en-US" sz="2600" dirty="0"/>
          </a:p>
        </p:txBody>
      </p:sp>
      <p:sp>
        <p:nvSpPr>
          <p:cNvPr id="3" name="value chart panel"/>
          <p:cNvSpPr/>
          <p:nvPr/>
        </p:nvSpPr>
        <p:spPr>
          <a:xfrm>
            <a:off x="457200" y="1005840"/>
            <a:ext cx="49377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value chart" descr="/home/claude/work/kaio/docs/pptx_assets/fig_va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162724"/>
            <a:ext cx="4718304" cy="1880791"/>
          </a:xfrm>
          <a:prstGeom prst="rect">
            <a:avLst/>
          </a:prstGeom>
        </p:spPr>
      </p:pic>
      <p:sp>
        <p:nvSpPr>
          <p:cNvPr id="5" name="gain card"/>
          <p:cNvSpPr/>
          <p:nvPr/>
        </p:nvSpPr>
        <p:spPr>
          <a:xfrm>
            <a:off x="5623560" y="1005840"/>
            <a:ext cx="3063240" cy="1051560"/>
          </a:xfrm>
          <a:prstGeom prst="roundRect">
            <a:avLst>
              <a:gd name="adj" fmla="val 6957"/>
            </a:avLst>
          </a:prstGeom>
          <a:solidFill>
            <a:srgbClr val="111A30">
              <a:alpha val="85000"/>
            </a:srgbClr>
          </a:solidFill>
          <a:ln w="9525">
            <a:solidFill>
              <a:srgbClr val="26324F"/>
            </a:solidFill>
            <a:prstDash val="solid"/>
          </a:ln>
        </p:spPr>
      </p:sp>
      <p:sp>
        <p:nvSpPr>
          <p:cNvPr id="6" name="gain value"/>
          <p:cNvSpPr txBox="1"/>
          <p:nvPr/>
        </p:nvSpPr>
        <p:spPr>
          <a:xfrm>
            <a:off x="5788152" y="109728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DB6F5"/>
                </a:solidFill>
              </a:rPr>
              <a:t>+3.7 pts</a:t>
            </a:r>
            <a:endParaRPr lang="en-US" sz="3000" dirty="0"/>
          </a:p>
        </p:txBody>
      </p:sp>
      <p:sp>
        <p:nvSpPr>
          <p:cNvPr id="7" name="gain label"/>
          <p:cNvSpPr txBox="1"/>
          <p:nvPr/>
        </p:nvSpPr>
        <p:spPr>
          <a:xfrm>
            <a:off x="5788152" y="1581912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3BDD3"/>
                </a:solidFill>
              </a:rPr>
              <a:t>over tuned rules with the same information; better on 20/20 days</a:t>
            </a:r>
            <a:endParaRPr lang="en-US" sz="1100" dirty="0"/>
          </a:p>
        </p:txBody>
      </p:sp>
      <p:sp>
        <p:nvSpPr>
          <p:cNvPr id="8" name="completion card"/>
          <p:cNvSpPr/>
          <p:nvPr/>
        </p:nvSpPr>
        <p:spPr>
          <a:xfrm>
            <a:off x="5623560" y="2148840"/>
            <a:ext cx="3063240" cy="1051560"/>
          </a:xfrm>
          <a:prstGeom prst="roundRect">
            <a:avLst>
              <a:gd name="adj" fmla="val 6957"/>
            </a:avLst>
          </a:prstGeom>
          <a:solidFill>
            <a:srgbClr val="111A30">
              <a:alpha val="85000"/>
            </a:srgbClr>
          </a:solidFill>
          <a:ln w="9525">
            <a:solidFill>
              <a:srgbClr val="26324F"/>
            </a:solidFill>
            <a:prstDash val="solid"/>
          </a:ln>
        </p:spPr>
      </p:sp>
      <p:sp>
        <p:nvSpPr>
          <p:cNvPr id="9" name="completion value"/>
          <p:cNvSpPr txBox="1"/>
          <p:nvPr/>
        </p:nvSpPr>
        <p:spPr>
          <a:xfrm>
            <a:off x="5788152" y="224028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DB6F5"/>
                </a:solidFill>
              </a:rPr>
              <a:t>+24 pts</a:t>
            </a:r>
            <a:endParaRPr lang="en-US" sz="3000" dirty="0"/>
          </a:p>
        </p:txBody>
      </p:sp>
      <p:sp>
        <p:nvSpPr>
          <p:cNvPr id="10" name="completion label"/>
          <p:cNvSpPr txBox="1"/>
          <p:nvPr/>
        </p:nvSpPr>
        <p:spPr>
          <a:xfrm>
            <a:off x="5788152" y="2724912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3BDD3"/>
                </a:solidFill>
              </a:rPr>
              <a:t>more images delivered or triaged (72 % vs 48 %)</a:t>
            </a:r>
            <a:endParaRPr lang="en-US" sz="1100" dirty="0"/>
          </a:p>
        </p:txBody>
      </p:sp>
      <p:sp>
        <p:nvSpPr>
          <p:cNvPr id="11" name="safety card"/>
          <p:cNvSpPr/>
          <p:nvPr/>
        </p:nvSpPr>
        <p:spPr>
          <a:xfrm>
            <a:off x="457200" y="3429000"/>
            <a:ext cx="2377440" cy="1051560"/>
          </a:xfrm>
          <a:prstGeom prst="roundRect">
            <a:avLst>
              <a:gd name="adj" fmla="val 6957"/>
            </a:avLst>
          </a:prstGeom>
          <a:solidFill>
            <a:srgbClr val="111A30">
              <a:alpha val="85000"/>
            </a:srgbClr>
          </a:solidFill>
          <a:ln w="9525">
            <a:solidFill>
              <a:srgbClr val="26324F"/>
            </a:solidFill>
            <a:prstDash val="solid"/>
          </a:ln>
        </p:spPr>
      </p:sp>
      <p:sp>
        <p:nvSpPr>
          <p:cNvPr id="12" name="safety value"/>
          <p:cNvSpPr txBox="1"/>
          <p:nvPr/>
        </p:nvSpPr>
        <p:spPr>
          <a:xfrm>
            <a:off x="621792" y="35204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DB6F5"/>
                </a:solidFill>
              </a:rPr>
              <a:t>0</a:t>
            </a:r>
            <a:endParaRPr lang="en-US" sz="3000" dirty="0"/>
          </a:p>
        </p:txBody>
      </p:sp>
      <p:sp>
        <p:nvSpPr>
          <p:cNvPr id="13" name="safety label"/>
          <p:cNvSpPr txBox="1"/>
          <p:nvPr/>
        </p:nvSpPr>
        <p:spPr>
          <a:xfrm>
            <a:off x="621792" y="400507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3BDD3"/>
                </a:solidFill>
              </a:rPr>
              <a:t>load-sheds or throttles; battery ≥ 69 %</a:t>
            </a:r>
            <a:endParaRPr lang="en-US" sz="1100" dirty="0"/>
          </a:p>
        </p:txBody>
      </p:sp>
      <p:sp>
        <p:nvSpPr>
          <p:cNvPr id="14" name="latency card"/>
          <p:cNvSpPr/>
          <p:nvPr/>
        </p:nvSpPr>
        <p:spPr>
          <a:xfrm>
            <a:off x="3017520" y="3429000"/>
            <a:ext cx="2377440" cy="1051560"/>
          </a:xfrm>
          <a:prstGeom prst="roundRect">
            <a:avLst>
              <a:gd name="adj" fmla="val 6957"/>
            </a:avLst>
          </a:prstGeom>
          <a:solidFill>
            <a:srgbClr val="111A30">
              <a:alpha val="85000"/>
            </a:srgbClr>
          </a:solidFill>
          <a:ln w="9525">
            <a:solidFill>
              <a:srgbClr val="26324F"/>
            </a:solidFill>
            <a:prstDash val="solid"/>
          </a:ln>
        </p:spPr>
      </p:sp>
      <p:sp>
        <p:nvSpPr>
          <p:cNvPr id="15" name="latency value"/>
          <p:cNvSpPr txBox="1"/>
          <p:nvPr/>
        </p:nvSpPr>
        <p:spPr>
          <a:xfrm>
            <a:off x="3182112" y="35204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DB6F5"/>
                </a:solidFill>
              </a:rPr>
              <a:t>120 min</a:t>
            </a:r>
            <a:endParaRPr lang="en-US" sz="3000" dirty="0"/>
          </a:p>
        </p:txBody>
      </p:sp>
      <p:sp>
        <p:nvSpPr>
          <p:cNvPr id="16" name="latency label"/>
          <p:cNvSpPr txBox="1"/>
          <p:nvPr/>
        </p:nvSpPr>
        <p:spPr>
          <a:xfrm>
            <a:off x="3182112" y="400507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3BDD3"/>
                </a:solidFill>
              </a:rPr>
              <a:t>mean latency (rules: 134 min)</a:t>
            </a:r>
            <a:endParaRPr lang="en-US" sz="1100" dirty="0"/>
          </a:p>
        </p:txBody>
      </p:sp>
      <p:sp>
        <p:nvSpPr>
          <p:cNvPr id="17" name="results note"/>
          <p:cNvSpPr txBox="1"/>
          <p:nvPr/>
        </p:nvSpPr>
        <p:spPr>
          <a:xfrm>
            <a:off x="5623560" y="342900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3BDD3"/>
                </a:solidFill>
              </a:rPr>
              <a:t>20 real days, independent 24-h runs; mean ± 95 % CI. Greedy processing drains the battery to 19 % and sheds the payload 19 % of the time.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8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2"/>
                </a:solidFill>
              </a:rPr>
              <a:t>Stress tests: where we win and where we don’t</a:t>
            </a:r>
            <a:endParaRPr lang="en-US" sz="2600" dirty="0"/>
          </a:p>
        </p:txBody>
      </p:sp>
      <p:sp>
        <p:nvSpPr>
          <p:cNvPr id="3" name="stress chart panel"/>
          <p:cNvSpPr/>
          <p:nvPr/>
        </p:nvSpPr>
        <p:spPr>
          <a:xfrm>
            <a:off x="457200" y="960120"/>
            <a:ext cx="512064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stress chart" descr="/home/claude/work/kaio/docs/pptx_assets/fig_str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61054"/>
            <a:ext cx="4901184" cy="2810012"/>
          </a:xfrm>
          <a:prstGeom prst="rect">
            <a:avLst/>
          </a:prstGeom>
        </p:spPr>
      </p:pic>
      <p:sp>
        <p:nvSpPr>
          <p:cNvPr id="5" name="stress bullets"/>
          <p:cNvSpPr txBox="1"/>
          <p:nvPr/>
        </p:nvSpPr>
        <p:spPr>
          <a:xfrm>
            <a:off x="5806440" y="1051560"/>
            <a:ext cx="28803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E9EDF6"/>
                </a:solidFill>
              </a:rPr>
              <a:t>Wins 6/8: </a:t>
            </a:r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C5CDE0"/>
                </a:solidFill>
              </a:rPr>
              <a:t>weaker solar array, half the downlink, fire season, less storage; E-LOTUS wins every day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E9EDF6"/>
                </a:solidFill>
              </a:rPr>
              <a:t>Small battery: </a:t>
            </a:r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C5CDE0"/>
                </a:solidFill>
              </a:rPr>
              <a:t>the rules' fixed threshold hits the shutdown floor (3 %); E-LOTUS adapts from the orbit (80 %)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E9EDF6"/>
                </a:solidFill>
              </a:rPr>
              <a:t>Losses 2/8: </a:t>
            </a:r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C5CDE0"/>
                </a:solidFill>
              </a:rPr>
              <a:t>slower GPU, weaker radiator; the rules only win by running above 45 °C for 37–81 % of the day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8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2"/>
                </a:solidFill>
              </a:rPr>
              <a:t>Feasible on real hardware</a:t>
            </a:r>
            <a:endParaRPr lang="en-US" sz="2600" dirty="0"/>
          </a:p>
        </p:txBody>
      </p:sp>
      <p:sp>
        <p:nvSpPr>
          <p:cNvPr id="3" name="decision time card"/>
          <p:cNvSpPr/>
          <p:nvPr/>
        </p:nvSpPr>
        <p:spPr>
          <a:xfrm>
            <a:off x="457200" y="100584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111A30">
              <a:alpha val="85000"/>
            </a:srgbClr>
          </a:solidFill>
          <a:ln w="9525">
            <a:solidFill>
              <a:srgbClr val="26324F"/>
            </a:solidFill>
            <a:prstDash val="solid"/>
          </a:ln>
        </p:spPr>
      </p:sp>
      <p:sp>
        <p:nvSpPr>
          <p:cNvPr id="4" name="decision time value"/>
          <p:cNvSpPr txBox="1"/>
          <p:nvPr/>
        </p:nvSpPr>
        <p:spPr>
          <a:xfrm>
            <a:off x="621792" y="10972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DB6F5"/>
                </a:solidFill>
              </a:rPr>
              <a:t>0.16 ms</a:t>
            </a:r>
            <a:endParaRPr lang="en-US" sz="3000" dirty="0"/>
          </a:p>
        </p:txBody>
      </p:sp>
      <p:sp>
        <p:nvSpPr>
          <p:cNvPr id="5" name="decision time label"/>
          <p:cNvSpPr txBox="1"/>
          <p:nvPr/>
        </p:nvSpPr>
        <p:spPr>
          <a:xfrm>
            <a:off x="621792" y="158191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3BDD3"/>
                </a:solidFill>
              </a:rPr>
              <a:t>median decision time (laptop; Pi run pending)</a:t>
            </a:r>
            <a:endParaRPr lang="en-US" sz="1100" dirty="0"/>
          </a:p>
        </p:txBody>
      </p:sp>
      <p:sp>
        <p:nvSpPr>
          <p:cNvPr id="6" name="cpu card"/>
          <p:cNvSpPr/>
          <p:nvPr/>
        </p:nvSpPr>
        <p:spPr>
          <a:xfrm>
            <a:off x="3268980" y="100584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111A30">
              <a:alpha val="85000"/>
            </a:srgbClr>
          </a:solidFill>
          <a:ln w="9525">
            <a:solidFill>
              <a:srgbClr val="26324F"/>
            </a:solidFill>
            <a:prstDash val="solid"/>
          </a:ln>
        </p:spPr>
      </p:sp>
      <p:sp>
        <p:nvSpPr>
          <p:cNvPr id="7" name="cpu value"/>
          <p:cNvSpPr txBox="1"/>
          <p:nvPr/>
        </p:nvSpPr>
        <p:spPr>
          <a:xfrm>
            <a:off x="3433572" y="10972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DB6F5"/>
                </a:solidFill>
              </a:rPr>
              <a:t>0.002 %</a:t>
            </a:r>
            <a:endParaRPr lang="en-US" sz="3000" dirty="0"/>
          </a:p>
        </p:txBody>
      </p:sp>
      <p:sp>
        <p:nvSpPr>
          <p:cNvPr id="8" name="cpu label"/>
          <p:cNvSpPr txBox="1"/>
          <p:nvPr/>
        </p:nvSpPr>
        <p:spPr>
          <a:xfrm>
            <a:off x="3433572" y="158191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3BDD3"/>
                </a:solidFill>
              </a:rPr>
              <a:t>of one CPU core over a full real day</a:t>
            </a:r>
            <a:endParaRPr lang="en-US" sz="1100" dirty="0"/>
          </a:p>
        </p:txBody>
      </p:sp>
      <p:sp>
        <p:nvSpPr>
          <p:cNvPr id="9" name="deps card"/>
          <p:cNvSpPr/>
          <p:nvPr/>
        </p:nvSpPr>
        <p:spPr>
          <a:xfrm>
            <a:off x="6080760" y="100584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111A30">
              <a:alpha val="85000"/>
            </a:srgbClr>
          </a:solidFill>
          <a:ln w="9525">
            <a:solidFill>
              <a:srgbClr val="26324F"/>
            </a:solidFill>
            <a:prstDash val="solid"/>
          </a:ln>
        </p:spPr>
      </p:sp>
      <p:sp>
        <p:nvSpPr>
          <p:cNvPr id="10" name="deps value"/>
          <p:cNvSpPr txBox="1"/>
          <p:nvPr/>
        </p:nvSpPr>
        <p:spPr>
          <a:xfrm>
            <a:off x="6245352" y="10972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DB6F5"/>
                </a:solidFill>
              </a:rPr>
              <a:t>2 libraries</a:t>
            </a:r>
            <a:endParaRPr lang="en-US" sz="3000" dirty="0"/>
          </a:p>
        </p:txBody>
      </p:sp>
      <p:sp>
        <p:nvSpPr>
          <p:cNvPr id="11" name="deps label"/>
          <p:cNvSpPr txBox="1"/>
          <p:nvPr/>
        </p:nvSpPr>
        <p:spPr>
          <a:xfrm>
            <a:off x="6245352" y="158191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3BDD3"/>
                </a:solidFill>
              </a:rPr>
              <a:t>numpy and sgp4; no GPU, no training</a:t>
            </a:r>
            <a:endParaRPr lang="en-US" sz="1100" dirty="0"/>
          </a:p>
        </p:txBody>
      </p:sp>
      <p:sp>
        <p:nvSpPr>
          <p:cNvPr id="12" name="inputs title"/>
          <p:cNvSpPr txBox="1"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CDE0"/>
                </a:solidFill>
              </a:rPr>
              <a:t>Every input already exists on a satellite:</a:t>
            </a:r>
            <a:endParaRPr lang="en-US" sz="1400" dirty="0"/>
          </a:p>
        </p:txBody>
      </p:sp>
      <p:sp>
        <p:nvSpPr>
          <p:cNvPr id="13" name="Battery and temperature card"/>
          <p:cNvSpPr/>
          <p:nvPr/>
        </p:nvSpPr>
        <p:spPr>
          <a:xfrm>
            <a:off x="457200" y="2743200"/>
            <a:ext cx="1965960" cy="1143000"/>
          </a:xfrm>
          <a:prstGeom prst="roundRect">
            <a:avLst>
              <a:gd name="adj" fmla="val 6400"/>
            </a:avLst>
          </a:prstGeom>
          <a:solidFill>
            <a:srgbClr val="111A30">
              <a:alpha val="85000"/>
            </a:srgbClr>
          </a:solidFill>
          <a:ln w="9525">
            <a:solidFill>
              <a:srgbClr val="26324F"/>
            </a:solidFill>
            <a:prstDash val="solid"/>
          </a:ln>
        </p:spPr>
      </p:sp>
      <p:sp>
        <p:nvSpPr>
          <p:cNvPr id="14" name="Battery and temperature"/>
          <p:cNvSpPr txBox="1"/>
          <p:nvPr/>
        </p:nvSpPr>
        <p:spPr>
          <a:xfrm>
            <a:off x="603504" y="28346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Battery and temperature</a:t>
            </a:r>
            <a:endParaRPr lang="en-US" sz="1400" dirty="0"/>
          </a:p>
        </p:txBody>
      </p:sp>
      <p:sp>
        <p:nvSpPr>
          <p:cNvPr id="15" name="Battery and temperature text"/>
          <p:cNvSpPr txBox="1"/>
          <p:nvPr/>
        </p:nvSpPr>
        <p:spPr>
          <a:xfrm>
            <a:off x="603504" y="33375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3BDD3"/>
                </a:solidFill>
              </a:rPr>
              <a:t>housekeeping sensors</a:t>
            </a:r>
            <a:endParaRPr lang="en-US" sz="1150" dirty="0"/>
          </a:p>
        </p:txBody>
      </p:sp>
      <p:sp>
        <p:nvSpPr>
          <p:cNvPr id="16" name="Pass schedule card"/>
          <p:cNvSpPr/>
          <p:nvPr/>
        </p:nvSpPr>
        <p:spPr>
          <a:xfrm>
            <a:off x="2560320" y="2743200"/>
            <a:ext cx="1965960" cy="1143000"/>
          </a:xfrm>
          <a:prstGeom prst="roundRect">
            <a:avLst>
              <a:gd name="adj" fmla="val 6400"/>
            </a:avLst>
          </a:prstGeom>
          <a:solidFill>
            <a:srgbClr val="111A30">
              <a:alpha val="85000"/>
            </a:srgbClr>
          </a:solidFill>
          <a:ln w="9525">
            <a:solidFill>
              <a:srgbClr val="26324F"/>
            </a:solidFill>
            <a:prstDash val="solid"/>
          </a:ln>
        </p:spPr>
      </p:sp>
      <p:sp>
        <p:nvSpPr>
          <p:cNvPr id="17" name="Pass schedule"/>
          <p:cNvSpPr txBox="1"/>
          <p:nvPr/>
        </p:nvSpPr>
        <p:spPr>
          <a:xfrm>
            <a:off x="2706624" y="28346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Pass schedule</a:t>
            </a:r>
            <a:endParaRPr lang="en-US" sz="1400" dirty="0"/>
          </a:p>
        </p:txBody>
      </p:sp>
      <p:sp>
        <p:nvSpPr>
          <p:cNvPr id="18" name="Pass schedule text"/>
          <p:cNvSpPr txBox="1"/>
          <p:nvPr/>
        </p:nvSpPr>
        <p:spPr>
          <a:xfrm>
            <a:off x="2706624" y="33375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3BDD3"/>
                </a:solidFill>
              </a:rPr>
              <a:t>computed on the ground, uplinked</a:t>
            </a:r>
            <a:endParaRPr lang="en-US" sz="1150" dirty="0"/>
          </a:p>
        </p:txBody>
      </p:sp>
      <p:sp>
        <p:nvSpPr>
          <p:cNvPr id="19" name="Land mask card"/>
          <p:cNvSpPr/>
          <p:nvPr/>
        </p:nvSpPr>
        <p:spPr>
          <a:xfrm>
            <a:off x="4663440" y="2743200"/>
            <a:ext cx="1965960" cy="1143000"/>
          </a:xfrm>
          <a:prstGeom prst="roundRect">
            <a:avLst>
              <a:gd name="adj" fmla="val 6400"/>
            </a:avLst>
          </a:prstGeom>
          <a:solidFill>
            <a:srgbClr val="111A30">
              <a:alpha val="85000"/>
            </a:srgbClr>
          </a:solidFill>
          <a:ln w="9525">
            <a:solidFill>
              <a:srgbClr val="26324F"/>
            </a:solidFill>
            <a:prstDash val="solid"/>
          </a:ln>
        </p:spPr>
      </p:sp>
      <p:sp>
        <p:nvSpPr>
          <p:cNvPr id="20" name="Land mask"/>
          <p:cNvSpPr txBox="1"/>
          <p:nvPr/>
        </p:nvSpPr>
        <p:spPr>
          <a:xfrm>
            <a:off x="4809744" y="28346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Land mask</a:t>
            </a:r>
            <a:endParaRPr lang="en-US" sz="1400" dirty="0"/>
          </a:p>
        </p:txBody>
      </p:sp>
      <p:sp>
        <p:nvSpPr>
          <p:cNvPr id="21" name="Land mask text"/>
          <p:cNvSpPr txBox="1"/>
          <p:nvPr/>
        </p:nvSpPr>
        <p:spPr>
          <a:xfrm>
            <a:off x="4809744" y="33375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3BDD3"/>
                </a:solidFill>
              </a:rPr>
              <a:t>static map, indexed by GNSS position</a:t>
            </a:r>
            <a:endParaRPr lang="en-US" sz="1150" dirty="0"/>
          </a:p>
        </p:txBody>
      </p:sp>
      <p:sp>
        <p:nvSpPr>
          <p:cNvPr id="22" name="Thumbnail entropy card"/>
          <p:cNvSpPr/>
          <p:nvPr/>
        </p:nvSpPr>
        <p:spPr>
          <a:xfrm>
            <a:off x="6766560" y="2743200"/>
            <a:ext cx="1965960" cy="1143000"/>
          </a:xfrm>
          <a:prstGeom prst="roundRect">
            <a:avLst>
              <a:gd name="adj" fmla="val 6400"/>
            </a:avLst>
          </a:prstGeom>
          <a:solidFill>
            <a:srgbClr val="111A30">
              <a:alpha val="85000"/>
            </a:srgbClr>
          </a:solidFill>
          <a:ln w="9525">
            <a:solidFill>
              <a:srgbClr val="26324F"/>
            </a:solidFill>
            <a:prstDash val="solid"/>
          </a:ln>
        </p:spPr>
      </p:sp>
      <p:sp>
        <p:nvSpPr>
          <p:cNvPr id="23" name="Thumbnail entropy"/>
          <p:cNvSpPr txBox="1"/>
          <p:nvPr/>
        </p:nvSpPr>
        <p:spPr>
          <a:xfrm>
            <a:off x="6912864" y="28346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Thumbnail entropy</a:t>
            </a:r>
            <a:endParaRPr lang="en-US" sz="1400" dirty="0"/>
          </a:p>
        </p:txBody>
      </p:sp>
      <p:sp>
        <p:nvSpPr>
          <p:cNvPr id="24" name="Thumbnail entropy text"/>
          <p:cNvSpPr txBox="1"/>
          <p:nvPr/>
        </p:nvSpPr>
        <p:spPr>
          <a:xfrm>
            <a:off x="6912864" y="33375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3BDD3"/>
                </a:solidFill>
              </a:rPr>
              <a:t>15 µs per image</a:t>
            </a:r>
            <a:endParaRPr lang="en-US" sz="1150" dirty="0"/>
          </a:p>
        </p:txBody>
      </p:sp>
      <p:sp>
        <p:nvSpPr>
          <p:cNvPr id="25" name="precedent"/>
          <p:cNvSpPr txBox="1"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9AB8"/>
                </a:solidFill>
              </a:rPr>
              <a:t>Precedent: ESA’s Φsat-1 already discarded cloudy images onboard. KAIO flies the real orbit of its successor.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8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2"/>
                </a:solidFill>
              </a:rPr>
              <a:t>Method and roadmap</a:t>
            </a:r>
            <a:endParaRPr lang="en-US" sz="2600" dirty="0"/>
          </a:p>
        </p:txBody>
      </p:sp>
      <p:sp>
        <p:nvSpPr>
          <p:cNvPr id="3" name="method title"/>
          <p:cNvSpPr txBox="1"/>
          <p:nvPr/>
        </p:nvSpPr>
        <p:spPr>
          <a:xfrm>
            <a:off x="457200" y="10058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How we built it</a:t>
            </a:r>
            <a:endParaRPr lang="en-US" sz="1500" dirty="0"/>
          </a:p>
        </p:txBody>
      </p:sp>
      <p:sp>
        <p:nvSpPr>
          <p:cNvPr id="4" name="method list"/>
          <p:cNvSpPr txBox="1"/>
          <p:nvPr/>
        </p:nvSpPr>
        <p:spPr>
          <a:xfrm>
            <a:off x="457200" y="1417320"/>
            <a:ext cx="38404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D3DAEA"/>
                </a:solidFill>
              </a:rPr>
              <a:t>Two Phase-2 prototypes merged into one tested package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D3DAEA"/>
                </a:solidFill>
              </a:rPr>
              <a:t>Review found the old engine above 45 °C 10 % of the time; the safety guard fixed it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D3DAEA"/>
                </a:solidFill>
              </a:rPr>
              <a:t>18 automated tests, incl. “the engine never reads the ground truth”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D3DAEA"/>
                </a:solidFill>
              </a:rPr>
              <a:t>1,360 simulations: 8 scenarios × 6 strategies × 20 real days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D3DAEA"/>
                </a:solidFill>
              </a:rPr>
              <a:t>Same code on a Raspberry Pi</a:t>
            </a:r>
            <a:endParaRPr lang="en-US" sz="1300" dirty="0"/>
          </a:p>
        </p:txBody>
      </p:sp>
      <p:sp>
        <p:nvSpPr>
          <p:cNvPr id="5" name="milestone Done"/>
          <p:cNvSpPr/>
          <p:nvPr/>
        </p:nvSpPr>
        <p:spPr>
          <a:xfrm>
            <a:off x="4572000" y="1005840"/>
            <a:ext cx="4114800" cy="731520"/>
          </a:xfrm>
          <a:prstGeom prst="roundRect">
            <a:avLst>
              <a:gd name="adj" fmla="val 10000"/>
            </a:avLst>
          </a:prstGeom>
          <a:solidFill>
            <a:srgbClr val="111A30">
              <a:alpha val="85000"/>
            </a:srgbClr>
          </a:solidFill>
          <a:ln w="9525">
            <a:solidFill>
              <a:srgbClr val="26324F"/>
            </a:solidFill>
            <a:prstDash val="solid"/>
          </a:ln>
        </p:spPr>
      </p:sp>
      <p:sp>
        <p:nvSpPr>
          <p:cNvPr id="6" name="milestone time 0"/>
          <p:cNvSpPr txBox="1"/>
          <p:nvPr/>
        </p:nvSpPr>
        <p:spPr>
          <a:xfrm>
            <a:off x="4709160" y="1115568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Done</a:t>
            </a:r>
            <a:endParaRPr lang="en-US" sz="1400" dirty="0"/>
          </a:p>
        </p:txBody>
      </p:sp>
      <p:sp>
        <p:nvSpPr>
          <p:cNvPr id="7" name="milestone text 0"/>
          <p:cNvSpPr txBox="1"/>
          <p:nvPr/>
        </p:nvSpPr>
        <p:spPr>
          <a:xfrm>
            <a:off x="5486400" y="111556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3DAEA"/>
                </a:solidFill>
              </a:rPr>
              <a:t>engine, safety guard, real-data simulation, benchmark, dashboard, embedded run</a:t>
            </a:r>
            <a:endParaRPr lang="en-US" sz="1150" dirty="0"/>
          </a:p>
        </p:txBody>
      </p:sp>
      <p:sp>
        <p:nvSpPr>
          <p:cNvPr id="8" name="milestone +3 mo"/>
          <p:cNvSpPr/>
          <p:nvPr/>
        </p:nvSpPr>
        <p:spPr>
          <a:xfrm>
            <a:off x="4572000" y="1874520"/>
            <a:ext cx="4114800" cy="731520"/>
          </a:xfrm>
          <a:prstGeom prst="roundRect">
            <a:avLst>
              <a:gd name="adj" fmla="val 10000"/>
            </a:avLst>
          </a:prstGeom>
          <a:solidFill>
            <a:srgbClr val="111A30">
              <a:alpha val="85000"/>
            </a:srgbClr>
          </a:solidFill>
          <a:ln w="9525">
            <a:solidFill>
              <a:srgbClr val="26324F"/>
            </a:solidFill>
            <a:prstDash val="solid"/>
          </a:ln>
        </p:spPr>
      </p:sp>
      <p:sp>
        <p:nvSpPr>
          <p:cNvPr id="9" name="milestone time 1"/>
          <p:cNvSpPr txBox="1"/>
          <p:nvPr/>
        </p:nvSpPr>
        <p:spPr>
          <a:xfrm>
            <a:off x="4709160" y="1984248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+3 mo</a:t>
            </a:r>
            <a:endParaRPr lang="en-US" sz="1400" dirty="0"/>
          </a:p>
        </p:txBody>
      </p:sp>
      <p:sp>
        <p:nvSpPr>
          <p:cNvPr id="10" name="milestone text 1"/>
          <p:cNvSpPr txBox="1"/>
          <p:nvPr/>
        </p:nvSpPr>
        <p:spPr>
          <a:xfrm>
            <a:off x="5486400" y="198424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3DAEA"/>
                </a:solidFill>
              </a:rPr>
              <a:t>hardware-in-the-loop on a flight-like computer; imperfect forecasts</a:t>
            </a:r>
            <a:endParaRPr lang="en-US" sz="1150" dirty="0"/>
          </a:p>
        </p:txBody>
      </p:sp>
      <p:sp>
        <p:nvSpPr>
          <p:cNvPr id="11" name="milestone +6 mo"/>
          <p:cNvSpPr/>
          <p:nvPr/>
        </p:nvSpPr>
        <p:spPr>
          <a:xfrm>
            <a:off x="4572000" y="2743200"/>
            <a:ext cx="4114800" cy="731520"/>
          </a:xfrm>
          <a:prstGeom prst="roundRect">
            <a:avLst>
              <a:gd name="adj" fmla="val 10000"/>
            </a:avLst>
          </a:prstGeom>
          <a:solidFill>
            <a:srgbClr val="111A30">
              <a:alpha val="85000"/>
            </a:srgbClr>
          </a:solidFill>
          <a:ln w="9525">
            <a:solidFill>
              <a:srgbClr val="26324F"/>
            </a:solidFill>
            <a:prstDash val="solid"/>
          </a:ln>
        </p:spPr>
      </p:sp>
      <p:sp>
        <p:nvSpPr>
          <p:cNvPr id="12" name="milestone time 2"/>
          <p:cNvSpPr txBox="1"/>
          <p:nvPr/>
        </p:nvSpPr>
        <p:spPr>
          <a:xfrm>
            <a:off x="4709160" y="2852928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+6 mo</a:t>
            </a:r>
            <a:endParaRPr lang="en-US" sz="1400" dirty="0"/>
          </a:p>
        </p:txBody>
      </p:sp>
      <p:sp>
        <p:nvSpPr>
          <p:cNvPr id="13" name="milestone text 2"/>
          <p:cNvSpPr txBox="1"/>
          <p:nvPr/>
        </p:nvSpPr>
        <p:spPr>
          <a:xfrm>
            <a:off x="5486400" y="285292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3DAEA"/>
                </a:solidFill>
              </a:rPr>
              <a:t>onboard cloud-screening network replacing the static land map</a:t>
            </a:r>
            <a:endParaRPr lang="en-US" sz="1150" dirty="0"/>
          </a:p>
        </p:txBody>
      </p:sp>
      <p:sp>
        <p:nvSpPr>
          <p:cNvPr id="14" name="milestone +12 mo"/>
          <p:cNvSpPr/>
          <p:nvPr/>
        </p:nvSpPr>
        <p:spPr>
          <a:xfrm>
            <a:off x="4572000" y="3611880"/>
            <a:ext cx="4114800" cy="731520"/>
          </a:xfrm>
          <a:prstGeom prst="roundRect">
            <a:avLst>
              <a:gd name="adj" fmla="val 10000"/>
            </a:avLst>
          </a:prstGeom>
          <a:solidFill>
            <a:srgbClr val="111A30">
              <a:alpha val="85000"/>
            </a:srgbClr>
          </a:solidFill>
          <a:ln w="9525">
            <a:solidFill>
              <a:srgbClr val="26324F"/>
            </a:solidFill>
            <a:prstDash val="solid"/>
          </a:ln>
        </p:spPr>
      </p:sp>
      <p:sp>
        <p:nvSpPr>
          <p:cNvPr id="15" name="milestone time 3"/>
          <p:cNvSpPr txBox="1"/>
          <p:nvPr/>
        </p:nvSpPr>
        <p:spPr>
          <a:xfrm>
            <a:off x="4709160" y="3721608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+12 mo</a:t>
            </a:r>
            <a:endParaRPr lang="en-US" sz="1400" dirty="0"/>
          </a:p>
        </p:txBody>
      </p:sp>
      <p:sp>
        <p:nvSpPr>
          <p:cNvPr id="16" name="milestone text 3"/>
          <p:cNvSpPr txBox="1"/>
          <p:nvPr/>
        </p:nvSpPr>
        <p:spPr>
          <a:xfrm>
            <a:off x="5486400" y="372160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3DAEA"/>
                </a:solidFill>
              </a:rPr>
              <a:t>constellation coordination; CubeSat flight-test partnership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8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osing line"/>
          <p:cNvSpPr txBox="1"/>
          <p:nvPr/>
        </p:nvSpPr>
        <p:spPr>
          <a:xfrm>
            <a:off x="548640" y="82296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2"/>
                </a:solidFill>
              </a:rPr>
              <a:t>KAIO decides which images deserve the downlink, explains why, and never breaks the spacecraft to do it.</a:t>
            </a:r>
            <a:endParaRPr lang="en-US" sz="3000" dirty="0"/>
          </a:p>
        </p:txBody>
      </p:sp>
      <p:sp>
        <p:nvSpPr>
          <p:cNvPr id="3" name="close value card"/>
          <p:cNvSpPr/>
          <p:nvPr/>
        </p:nvSpPr>
        <p:spPr>
          <a:xfrm>
            <a:off x="548640" y="265176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111A30">
              <a:alpha val="85000"/>
            </a:srgbClr>
          </a:solidFill>
          <a:ln w="9525">
            <a:solidFill>
              <a:srgbClr val="26324F"/>
            </a:solidFill>
            <a:prstDash val="solid"/>
          </a:ln>
        </p:spPr>
      </p:sp>
      <p:sp>
        <p:nvSpPr>
          <p:cNvPr id="4" name="close value value"/>
          <p:cNvSpPr txBox="1"/>
          <p:nvPr/>
        </p:nvSpPr>
        <p:spPr>
          <a:xfrm>
            <a:off x="713232" y="27432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DB6F5"/>
                </a:solidFill>
              </a:rPr>
              <a:t>85.3 %</a:t>
            </a:r>
            <a:endParaRPr lang="en-US" sz="3000" dirty="0"/>
          </a:p>
        </p:txBody>
      </p:sp>
      <p:sp>
        <p:nvSpPr>
          <p:cNvPr id="5" name="close value label"/>
          <p:cNvSpPr txBox="1"/>
          <p:nvPr/>
        </p:nvSpPr>
        <p:spPr>
          <a:xfrm>
            <a:off x="713232" y="322783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3BDD3"/>
                </a:solidFill>
              </a:rPr>
              <a:t>of the reachable value</a:t>
            </a:r>
            <a:endParaRPr lang="en-US" sz="1100" dirty="0"/>
          </a:p>
        </p:txBody>
      </p:sp>
      <p:sp>
        <p:nvSpPr>
          <p:cNvPr id="6" name="close days card"/>
          <p:cNvSpPr/>
          <p:nvPr/>
        </p:nvSpPr>
        <p:spPr>
          <a:xfrm>
            <a:off x="3291840" y="265176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111A30">
              <a:alpha val="85000"/>
            </a:srgbClr>
          </a:solidFill>
          <a:ln w="9525">
            <a:solidFill>
              <a:srgbClr val="26324F"/>
            </a:solidFill>
            <a:prstDash val="solid"/>
          </a:ln>
        </p:spPr>
      </p:sp>
      <p:sp>
        <p:nvSpPr>
          <p:cNvPr id="7" name="close days value"/>
          <p:cNvSpPr txBox="1"/>
          <p:nvPr/>
        </p:nvSpPr>
        <p:spPr>
          <a:xfrm>
            <a:off x="3456432" y="27432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DB6F5"/>
                </a:solidFill>
              </a:rPr>
              <a:t>20/20</a:t>
            </a:r>
            <a:endParaRPr lang="en-US" sz="3000" dirty="0"/>
          </a:p>
        </p:txBody>
      </p:sp>
      <p:sp>
        <p:nvSpPr>
          <p:cNvPr id="8" name="close days label"/>
          <p:cNvSpPr txBox="1"/>
          <p:nvPr/>
        </p:nvSpPr>
        <p:spPr>
          <a:xfrm>
            <a:off x="3456432" y="322783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3BDD3"/>
                </a:solidFill>
              </a:rPr>
              <a:t>days better than tuned rules</a:t>
            </a:r>
            <a:endParaRPr lang="en-US" sz="1100" dirty="0"/>
          </a:p>
        </p:txBody>
      </p:sp>
      <p:sp>
        <p:nvSpPr>
          <p:cNvPr id="9" name="close safety card"/>
          <p:cNvSpPr/>
          <p:nvPr/>
        </p:nvSpPr>
        <p:spPr>
          <a:xfrm>
            <a:off x="6035040" y="265176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111A30">
              <a:alpha val="85000"/>
            </a:srgbClr>
          </a:solidFill>
          <a:ln w="9525">
            <a:solidFill>
              <a:srgbClr val="26324F"/>
            </a:solidFill>
            <a:prstDash val="solid"/>
          </a:ln>
        </p:spPr>
      </p:sp>
      <p:sp>
        <p:nvSpPr>
          <p:cNvPr id="10" name="close safety value"/>
          <p:cNvSpPr txBox="1"/>
          <p:nvPr/>
        </p:nvSpPr>
        <p:spPr>
          <a:xfrm>
            <a:off x="6199632" y="27432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DB6F5"/>
                </a:solidFill>
              </a:rPr>
              <a:t>0</a:t>
            </a:r>
            <a:endParaRPr lang="en-US" sz="3000" dirty="0"/>
          </a:p>
        </p:txBody>
      </p:sp>
      <p:sp>
        <p:nvSpPr>
          <p:cNvPr id="11" name="close safety label"/>
          <p:cNvSpPr txBox="1"/>
          <p:nvPr/>
        </p:nvSpPr>
        <p:spPr>
          <a:xfrm>
            <a:off x="6199632" y="322783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3BDD3"/>
                </a:solidFill>
              </a:rPr>
              <a:t>load-sheds or throttles</a:t>
            </a:r>
            <a:endParaRPr lang="en-US" sz="1100" dirty="0"/>
          </a:p>
        </p:txBody>
      </p:sp>
      <p:sp>
        <p:nvSpPr>
          <p:cNvPr id="12" name="thanks"/>
          <p:cNvSpPr txBox="1"/>
          <p:nvPr/>
        </p:nvSpPr>
        <p:spPr>
          <a:xfrm>
            <a:off x="548640" y="4114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6C2"/>
                </a:solidFill>
              </a:rPr>
              <a:t>Thank you · questions welcome · github.com/&lt;team&gt;/kaio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8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AIO">
  <a:themeElements>
    <a:clrScheme name="KAIO">
      <a:dk1>
        <a:srgbClr val="0A0F1E"/>
      </a:dk1>
      <a:lt1>
        <a:srgbClr val="FFFFFF"/>
      </a:lt1>
      <a:dk2>
        <a:srgbClr val="121A2B"/>
      </a:dk2>
      <a:lt2>
        <a:srgbClr val="E9EDF6"/>
      </a:lt2>
      <a:accent1>
        <a:srgbClr val="5AA2F0"/>
      </a:accent1>
      <a:accent2>
        <a:srgbClr val="E9A23B"/>
      </a:accent2>
      <a:accent3>
        <a:srgbClr val="A1487A"/>
      </a:accent3>
      <a:accent4>
        <a:srgbClr val="3FC0B0"/>
      </a:accent4>
      <a:accent5>
        <a:srgbClr val="9AA6C2"/>
      </a:accent5>
      <a:accent6>
        <a:srgbClr val="EE6A57"/>
      </a:accent6>
      <a:hlink>
        <a:srgbClr val="5AA2F0"/>
      </a:hlink>
      <a:folHlink>
        <a:srgbClr val="A497EC"/>
      </a:folHlink>
    </a:clrScheme>
    <a:fontScheme name="KAIO">
      <a:majorFont>
        <a:latin typeface="Space Grote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pace Grotesk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KAIO: which images deserve the downlink?</dc:title>
  <dc:subject>PptxGenJS Presentation</dc:subject>
  <dc:creator>Team KAIO</dc:creator>
  <cp:lastModifiedBy>Team KAIO</cp:lastModifiedBy>
  <cp:revision>1</cp:revision>
  <dcterms:created xsi:type="dcterms:W3CDTF">2026-10-14T14:17:26Z</dcterms:created>
  <dcterms:modified xsi:type="dcterms:W3CDTF">2026-10-14T14:17:26Z</dcterms:modified>
</cp:coreProperties>
</file>